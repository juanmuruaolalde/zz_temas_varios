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797675" cy="9928225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90" autoAdjust="0"/>
    <p:restoredTop sz="94660"/>
  </p:normalViewPr>
  <p:slideViewPr>
    <p:cSldViewPr snapToGrid="0">
      <p:cViewPr>
        <p:scale>
          <a:sx n="100" d="100"/>
          <a:sy n="100" d="100"/>
        </p:scale>
        <p:origin x="-5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9836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72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044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764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4463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1871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2403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122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5656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452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99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335AE-28F8-4460-B9C7-85D77893EB64}" type="datetimeFigureOut">
              <a:rPr lang="es-ES_tradnl" smtClean="0"/>
              <a:t>16/07/2026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9A685-00C4-4FE9-BAAD-2A7E249ED69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3215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n 133" descr="Llave de paso - Wikipedia, la enciclopedia lib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297214" y="3770463"/>
            <a:ext cx="365724" cy="409610"/>
          </a:xfrm>
          <a:prstGeom prst="rect">
            <a:avLst/>
          </a:prstGeom>
        </p:spPr>
      </p:pic>
      <p:pic>
        <p:nvPicPr>
          <p:cNvPr id="57" name="Imagen 56" descr="Llave de paso - Wikipedia, la enciclopedia lib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901" y="1722055"/>
            <a:ext cx="365724" cy="409610"/>
          </a:xfrm>
          <a:prstGeom prst="rect">
            <a:avLst/>
          </a:prstGeom>
        </p:spPr>
      </p:pic>
      <p:pic>
        <p:nvPicPr>
          <p:cNvPr id="117" name="Imagen 116" descr="Llave de paso - Wikipedia, la enciclopedia lib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057" y="1701106"/>
            <a:ext cx="365724" cy="409610"/>
          </a:xfrm>
          <a:prstGeom prst="rect">
            <a:avLst/>
          </a:prstGeom>
        </p:spPr>
      </p:pic>
      <p:pic>
        <p:nvPicPr>
          <p:cNvPr id="119" name="Imagen 118" descr="Llave de paso - Wikipedia, la enciclopedia libr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705" y="1526560"/>
            <a:ext cx="365724" cy="409610"/>
          </a:xfrm>
          <a:prstGeom prst="rect">
            <a:avLst/>
          </a:prstGeom>
        </p:spPr>
      </p:pic>
      <p:sp>
        <p:nvSpPr>
          <p:cNvPr id="206" name="Nube 205"/>
          <p:cNvSpPr/>
          <p:nvPr/>
        </p:nvSpPr>
        <p:spPr>
          <a:xfrm>
            <a:off x="7497331" y="591343"/>
            <a:ext cx="2335645" cy="1561821"/>
          </a:xfrm>
          <a:prstGeom prst="cloud">
            <a:avLst/>
          </a:prstGeom>
          <a:noFill/>
          <a:ln w="25400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6" name="Conector angular 65"/>
          <p:cNvCxnSpPr>
            <a:stCxn id="69" idx="2"/>
            <a:endCxn id="71" idx="1"/>
          </p:cNvCxnSpPr>
          <p:nvPr/>
        </p:nvCxnSpPr>
        <p:spPr>
          <a:xfrm rot="5400000">
            <a:off x="1689900" y="3732779"/>
            <a:ext cx="377742" cy="30639"/>
          </a:xfrm>
          <a:prstGeom prst="bentConnector4">
            <a:avLst>
              <a:gd name="adj1" fmla="val 25943"/>
              <a:gd name="adj2" fmla="val 846108"/>
            </a:avLst>
          </a:prstGeom>
          <a:ln w="381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Imagen 70" descr="Free photo: Water Pump, Industrial, Industry - Free Image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51" y="3755226"/>
            <a:ext cx="545230" cy="363486"/>
          </a:xfrm>
          <a:prstGeom prst="rect">
            <a:avLst/>
          </a:prstGeom>
        </p:spPr>
      </p:pic>
      <p:grpSp>
        <p:nvGrpSpPr>
          <p:cNvPr id="108" name="Grupo 107"/>
          <p:cNvGrpSpPr/>
          <p:nvPr/>
        </p:nvGrpSpPr>
        <p:grpSpPr>
          <a:xfrm>
            <a:off x="3591355" y="2432540"/>
            <a:ext cx="1539611" cy="1044086"/>
            <a:chOff x="3873100" y="2554981"/>
            <a:chExt cx="1539611" cy="1044086"/>
          </a:xfrm>
        </p:grpSpPr>
        <p:pic>
          <p:nvPicPr>
            <p:cNvPr id="58" name="Imagen 5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3100" y="2928449"/>
              <a:ext cx="524301" cy="670618"/>
            </a:xfrm>
            <a:prstGeom prst="rect">
              <a:avLst/>
            </a:prstGeom>
          </p:spPr>
        </p:pic>
        <p:sp>
          <p:nvSpPr>
            <p:cNvPr id="73" name="CuadroTexto 72"/>
            <p:cNvSpPr txBox="1"/>
            <p:nvPr/>
          </p:nvSpPr>
          <p:spPr>
            <a:xfrm>
              <a:off x="4252842" y="2554981"/>
              <a:ext cx="1159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resultados</a:t>
              </a:r>
              <a:endParaRPr lang="en-US" dirty="0" smtClean="0"/>
            </a:p>
          </p:txBody>
        </p:sp>
      </p:grpSp>
      <p:grpSp>
        <p:nvGrpSpPr>
          <p:cNvPr id="135" name="Grupo 134"/>
          <p:cNvGrpSpPr/>
          <p:nvPr/>
        </p:nvGrpSpPr>
        <p:grpSpPr>
          <a:xfrm>
            <a:off x="6558238" y="2499114"/>
            <a:ext cx="3919261" cy="1780409"/>
            <a:chOff x="5821852" y="1530398"/>
            <a:chExt cx="3919261" cy="1780409"/>
          </a:xfrm>
        </p:grpSpPr>
        <p:pic>
          <p:nvPicPr>
            <p:cNvPr id="56" name="Imagen 5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6729" y="2101393"/>
              <a:ext cx="1511939" cy="1048603"/>
            </a:xfrm>
            <a:prstGeom prst="rect">
              <a:avLst/>
            </a:prstGeom>
          </p:spPr>
        </p:pic>
        <p:sp>
          <p:nvSpPr>
            <p:cNvPr id="74" name="CuadroTexto 73"/>
            <p:cNvSpPr txBox="1"/>
            <p:nvPr/>
          </p:nvSpPr>
          <p:spPr>
            <a:xfrm>
              <a:off x="5821852" y="2179661"/>
              <a:ext cx="1240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 smtClean="0">
                  <a:solidFill>
                    <a:schemeClr val="accent6">
                      <a:lumMod val="75000"/>
                    </a:schemeClr>
                  </a:solidFill>
                </a:rPr>
                <a:t>inversiones</a:t>
              </a:r>
              <a:endParaRPr lang="es-ES_tradnl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92" name="Grupo 91"/>
            <p:cNvGrpSpPr/>
            <p:nvPr/>
          </p:nvGrpSpPr>
          <p:grpSpPr>
            <a:xfrm>
              <a:off x="8402452" y="1530398"/>
              <a:ext cx="1338661" cy="1780409"/>
              <a:chOff x="8705146" y="1687186"/>
              <a:chExt cx="1338661" cy="1780409"/>
            </a:xfrm>
          </p:grpSpPr>
          <p:cxnSp>
            <p:nvCxnSpPr>
              <p:cNvPr id="77" name="Conector recto 76"/>
              <p:cNvCxnSpPr/>
              <p:nvPr/>
            </p:nvCxnSpPr>
            <p:spPr>
              <a:xfrm>
                <a:off x="8705146" y="1687186"/>
                <a:ext cx="0" cy="1780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CuadroTexto 87"/>
              <p:cNvSpPr txBox="1"/>
              <p:nvPr/>
            </p:nvSpPr>
            <p:spPr>
              <a:xfrm>
                <a:off x="8919718" y="2143588"/>
                <a:ext cx="11240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g</a:t>
                </a:r>
                <a:r>
                  <a:rPr lang="en-US" dirty="0" err="1" smtClean="0">
                    <a:solidFill>
                      <a:schemeClr val="accent6">
                        <a:lumMod val="75000"/>
                      </a:schemeClr>
                    </a:solidFill>
                  </a:rPr>
                  <a:t>astos</a:t>
                </a:r>
                <a:r>
                  <a:rPr lang="en-US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 de</a:t>
                </a:r>
              </a:p>
              <a:p>
                <a:pPr algn="ctr"/>
                <a:r>
                  <a:rPr lang="en-US" dirty="0" err="1" smtClean="0">
                    <a:solidFill>
                      <a:schemeClr val="accent6">
                        <a:lumMod val="75000"/>
                      </a:schemeClr>
                    </a:solidFill>
                  </a:rPr>
                  <a:t>operación</a:t>
                </a:r>
                <a:endParaRPr lang="es-ES_tradnl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91" name="Conector recto 90"/>
              <p:cNvCxnSpPr/>
              <p:nvPr/>
            </p:nvCxnSpPr>
            <p:spPr>
              <a:xfrm>
                <a:off x="8857546" y="1687186"/>
                <a:ext cx="0" cy="1780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9" name="Imagen 6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39" y="2888609"/>
            <a:ext cx="524301" cy="670618"/>
          </a:xfrm>
          <a:prstGeom prst="rect">
            <a:avLst/>
          </a:prstGeom>
        </p:spPr>
      </p:pic>
      <p:sp>
        <p:nvSpPr>
          <p:cNvPr id="75" name="CuadroTexto 74"/>
          <p:cNvSpPr txBox="1"/>
          <p:nvPr/>
        </p:nvSpPr>
        <p:spPr>
          <a:xfrm>
            <a:off x="577794" y="2938603"/>
            <a:ext cx="1225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capitales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externos</a:t>
            </a:r>
            <a:endParaRPr lang="es-ES_tradnl" dirty="0"/>
          </a:p>
        </p:txBody>
      </p:sp>
      <p:sp>
        <p:nvSpPr>
          <p:cNvPr id="102" name="Nube 101"/>
          <p:cNvSpPr/>
          <p:nvPr/>
        </p:nvSpPr>
        <p:spPr>
          <a:xfrm>
            <a:off x="1002546" y="2083064"/>
            <a:ext cx="1535033" cy="55186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Inversores</a:t>
            </a:r>
            <a:r>
              <a:rPr lang="en-US" sz="1200" dirty="0" smtClean="0"/>
              <a:t> y </a:t>
            </a:r>
            <a:r>
              <a:rPr lang="en-US" sz="1200" dirty="0" err="1" smtClean="0"/>
              <a:t>prestamistas</a:t>
            </a:r>
            <a:endParaRPr lang="es-ES_tradnl" sz="1200" dirty="0"/>
          </a:p>
        </p:txBody>
      </p:sp>
      <p:pic>
        <p:nvPicPr>
          <p:cNvPr id="5" name="Imagen 4" descr="Free photo: Water Pump, Industrial, Industry - Free Image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785" y="5100088"/>
            <a:ext cx="1482863" cy="988575"/>
          </a:xfrm>
          <a:prstGeom prst="rect">
            <a:avLst/>
          </a:prstGeom>
        </p:spPr>
      </p:pic>
      <p:sp>
        <p:nvSpPr>
          <p:cNvPr id="104" name="CuadroTexto 103"/>
          <p:cNvSpPr txBox="1"/>
          <p:nvPr/>
        </p:nvSpPr>
        <p:spPr>
          <a:xfrm>
            <a:off x="10200435" y="5179049"/>
            <a:ext cx="796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ventas</a:t>
            </a:r>
            <a:endParaRPr lang="es-ES_tradnl" dirty="0"/>
          </a:p>
        </p:txBody>
      </p:sp>
      <p:sp>
        <p:nvSpPr>
          <p:cNvPr id="103" name="Nube 102"/>
          <p:cNvSpPr/>
          <p:nvPr/>
        </p:nvSpPr>
        <p:spPr>
          <a:xfrm>
            <a:off x="10174238" y="5562869"/>
            <a:ext cx="1808804" cy="121116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mercado</a:t>
            </a:r>
            <a:endParaRPr lang="es-ES_tradnl" dirty="0"/>
          </a:p>
        </p:txBody>
      </p:sp>
      <p:cxnSp>
        <p:nvCxnSpPr>
          <p:cNvPr id="113" name="Conector recto 112"/>
          <p:cNvCxnSpPr/>
          <p:nvPr/>
        </p:nvCxnSpPr>
        <p:spPr>
          <a:xfrm flipH="1">
            <a:off x="10566582" y="3744658"/>
            <a:ext cx="1024116" cy="1377030"/>
          </a:xfrm>
          <a:prstGeom prst="line">
            <a:avLst/>
          </a:prstGeom>
          <a:ln w="152400">
            <a:headEnd type="stealth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/>
          <p:cNvCxnSpPr/>
          <p:nvPr/>
        </p:nvCxnSpPr>
        <p:spPr>
          <a:xfrm>
            <a:off x="11547742" y="1329466"/>
            <a:ext cx="4437" cy="2452825"/>
          </a:xfrm>
          <a:prstGeom prst="line">
            <a:avLst/>
          </a:prstGeom>
          <a:ln w="152400">
            <a:headEnd type="stealth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/>
          <p:cNvCxnSpPr/>
          <p:nvPr/>
        </p:nvCxnSpPr>
        <p:spPr>
          <a:xfrm flipH="1">
            <a:off x="8896785" y="4257114"/>
            <a:ext cx="329249" cy="621556"/>
          </a:xfrm>
          <a:prstGeom prst="line">
            <a:avLst/>
          </a:prstGeom>
          <a:ln w="127000"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/>
          <p:cNvCxnSpPr/>
          <p:nvPr/>
        </p:nvCxnSpPr>
        <p:spPr>
          <a:xfrm flipH="1" flipV="1">
            <a:off x="8853830" y="1243134"/>
            <a:ext cx="2698350" cy="98846"/>
          </a:xfrm>
          <a:prstGeom prst="line">
            <a:avLst/>
          </a:prstGeom>
          <a:ln w="1524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122"/>
          <p:cNvCxnSpPr/>
          <p:nvPr/>
        </p:nvCxnSpPr>
        <p:spPr>
          <a:xfrm>
            <a:off x="8465638" y="3782291"/>
            <a:ext cx="358277" cy="1096379"/>
          </a:xfrm>
          <a:prstGeom prst="line">
            <a:avLst/>
          </a:prstGeom>
          <a:ln w="127000"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cto 128"/>
          <p:cNvCxnSpPr/>
          <p:nvPr/>
        </p:nvCxnSpPr>
        <p:spPr>
          <a:xfrm>
            <a:off x="7434563" y="3995260"/>
            <a:ext cx="1374465" cy="986870"/>
          </a:xfrm>
          <a:prstGeom prst="line">
            <a:avLst/>
          </a:prstGeom>
          <a:ln w="63500"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/>
          <p:cNvCxnSpPr/>
          <p:nvPr/>
        </p:nvCxnSpPr>
        <p:spPr>
          <a:xfrm>
            <a:off x="9202041" y="2525761"/>
            <a:ext cx="16326" cy="1785530"/>
          </a:xfrm>
          <a:prstGeom prst="line">
            <a:avLst/>
          </a:prstGeom>
          <a:ln w="1270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recto 142"/>
          <p:cNvCxnSpPr/>
          <p:nvPr/>
        </p:nvCxnSpPr>
        <p:spPr>
          <a:xfrm flipH="1">
            <a:off x="3843880" y="2184324"/>
            <a:ext cx="66069" cy="746517"/>
          </a:xfrm>
          <a:prstGeom prst="line">
            <a:avLst/>
          </a:prstGeom>
          <a:ln w="762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cto 138"/>
          <p:cNvCxnSpPr/>
          <p:nvPr/>
        </p:nvCxnSpPr>
        <p:spPr>
          <a:xfrm flipH="1">
            <a:off x="8426614" y="1963024"/>
            <a:ext cx="63045" cy="1441497"/>
          </a:xfrm>
          <a:prstGeom prst="line">
            <a:avLst/>
          </a:prstGeom>
          <a:ln w="1270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cto 141"/>
          <p:cNvCxnSpPr/>
          <p:nvPr/>
        </p:nvCxnSpPr>
        <p:spPr>
          <a:xfrm flipH="1">
            <a:off x="7554627" y="2009813"/>
            <a:ext cx="333503" cy="1131504"/>
          </a:xfrm>
          <a:prstGeom prst="line">
            <a:avLst/>
          </a:prstGeom>
          <a:ln w="762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/>
          <p:cNvCxnSpPr/>
          <p:nvPr/>
        </p:nvCxnSpPr>
        <p:spPr>
          <a:xfrm>
            <a:off x="1853871" y="2676489"/>
            <a:ext cx="33771" cy="386284"/>
          </a:xfrm>
          <a:prstGeom prst="line">
            <a:avLst/>
          </a:prstGeom>
          <a:ln w="635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147"/>
          <p:cNvCxnSpPr/>
          <p:nvPr/>
        </p:nvCxnSpPr>
        <p:spPr>
          <a:xfrm flipH="1">
            <a:off x="4550493" y="4051883"/>
            <a:ext cx="80230" cy="306421"/>
          </a:xfrm>
          <a:prstGeom prst="line">
            <a:avLst/>
          </a:prstGeom>
          <a:ln w="50800"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/>
          <p:cNvCxnSpPr/>
          <p:nvPr/>
        </p:nvCxnSpPr>
        <p:spPr>
          <a:xfrm flipH="1">
            <a:off x="532549" y="4349419"/>
            <a:ext cx="4018483" cy="17771"/>
          </a:xfrm>
          <a:prstGeom prst="line">
            <a:avLst/>
          </a:prstGeom>
          <a:ln w="50800"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153"/>
          <p:cNvCxnSpPr/>
          <p:nvPr/>
        </p:nvCxnSpPr>
        <p:spPr>
          <a:xfrm flipH="1" flipV="1">
            <a:off x="521279" y="2525761"/>
            <a:ext cx="22541" cy="1860407"/>
          </a:xfrm>
          <a:prstGeom prst="line">
            <a:avLst/>
          </a:prstGeom>
          <a:ln w="50800"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156"/>
          <p:cNvCxnSpPr>
            <a:endCxn id="102" idx="2"/>
          </p:cNvCxnSpPr>
          <p:nvPr/>
        </p:nvCxnSpPr>
        <p:spPr>
          <a:xfrm flipV="1">
            <a:off x="513800" y="2358999"/>
            <a:ext cx="493507" cy="166762"/>
          </a:xfrm>
          <a:prstGeom prst="line">
            <a:avLst/>
          </a:prstGeom>
          <a:ln w="508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/>
          <p:cNvCxnSpPr>
            <a:stCxn id="71" idx="3"/>
          </p:cNvCxnSpPr>
          <p:nvPr/>
        </p:nvCxnSpPr>
        <p:spPr>
          <a:xfrm flipV="1">
            <a:off x="2408681" y="925801"/>
            <a:ext cx="1108745" cy="3011168"/>
          </a:xfrm>
          <a:prstGeom prst="line">
            <a:avLst/>
          </a:prstGeom>
          <a:ln w="38100"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/>
          <p:cNvCxnSpPr/>
          <p:nvPr/>
        </p:nvCxnSpPr>
        <p:spPr>
          <a:xfrm>
            <a:off x="9102055" y="1795244"/>
            <a:ext cx="90381" cy="712903"/>
          </a:xfrm>
          <a:prstGeom prst="line">
            <a:avLst/>
          </a:prstGeom>
          <a:ln w="1270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ector recto 191"/>
          <p:cNvCxnSpPr/>
          <p:nvPr/>
        </p:nvCxnSpPr>
        <p:spPr>
          <a:xfrm flipV="1">
            <a:off x="6064993" y="1157314"/>
            <a:ext cx="1994091" cy="65821"/>
          </a:xfrm>
          <a:prstGeom prst="line">
            <a:avLst/>
          </a:prstGeom>
          <a:ln w="508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cto 194"/>
          <p:cNvCxnSpPr/>
          <p:nvPr/>
        </p:nvCxnSpPr>
        <p:spPr>
          <a:xfrm>
            <a:off x="3517426" y="898554"/>
            <a:ext cx="4716149" cy="27247"/>
          </a:xfrm>
          <a:prstGeom prst="line">
            <a:avLst/>
          </a:prstGeom>
          <a:ln w="381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211"/>
          <p:cNvCxnSpPr/>
          <p:nvPr/>
        </p:nvCxnSpPr>
        <p:spPr>
          <a:xfrm flipH="1">
            <a:off x="3909949" y="1481676"/>
            <a:ext cx="3952419" cy="691242"/>
          </a:xfrm>
          <a:prstGeom prst="line">
            <a:avLst/>
          </a:prstGeom>
          <a:ln w="76200"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CuadroTexto 229"/>
          <p:cNvSpPr txBox="1"/>
          <p:nvPr/>
        </p:nvSpPr>
        <p:spPr>
          <a:xfrm>
            <a:off x="10204425" y="1436733"/>
            <a:ext cx="1205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aja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entrante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2963053" y="848299"/>
            <a:ext cx="49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/>
              <a:t>①</a:t>
            </a:r>
            <a:endParaRPr lang="es-ES_tradnl" dirty="0"/>
          </a:p>
        </p:txBody>
      </p:sp>
      <p:sp>
        <p:nvSpPr>
          <p:cNvPr id="234" name="CuadroTexto 233"/>
          <p:cNvSpPr txBox="1"/>
          <p:nvPr/>
        </p:nvSpPr>
        <p:spPr>
          <a:xfrm>
            <a:off x="5488034" y="1120799"/>
            <a:ext cx="47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②</a:t>
            </a:r>
          </a:p>
        </p:txBody>
      </p:sp>
      <p:sp>
        <p:nvSpPr>
          <p:cNvPr id="235" name="CuadroTexto 234"/>
          <p:cNvSpPr txBox="1"/>
          <p:nvPr/>
        </p:nvSpPr>
        <p:spPr>
          <a:xfrm>
            <a:off x="8162178" y="1232534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③</a:t>
            </a:r>
          </a:p>
        </p:txBody>
      </p:sp>
      <p:sp>
        <p:nvSpPr>
          <p:cNvPr id="236" name="CuadroTexto 235"/>
          <p:cNvSpPr txBox="1"/>
          <p:nvPr/>
        </p:nvSpPr>
        <p:spPr>
          <a:xfrm>
            <a:off x="8973488" y="475235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CuadroTexto 236"/>
              <p:cNvSpPr txBox="1"/>
              <p:nvPr/>
            </p:nvSpPr>
            <p:spPr>
              <a:xfrm>
                <a:off x="1157408" y="5071760"/>
                <a:ext cx="2352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>
                    <a:solidFill>
                      <a:schemeClr val="accent2">
                        <a:lumMod val="75000"/>
                      </a:schemeClr>
                    </a:solidFill>
                  </a:rPr>
                  <a:t>Resultado</a:t>
                </a:r>
                <a:r>
                  <a:rPr lang="en-US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accent2">
                        <a:lumMod val="75000"/>
                      </a:schemeClr>
                    </a:solidFill>
                  </a:rPr>
                  <a:t>neto</a:t>
                </a:r>
                <a:r>
                  <a:rPr lang="en-US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dirty="0" smtClean="0"/>
                  <a:t>: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5−4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237" name="CuadroTexto 2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08" y="5071760"/>
                <a:ext cx="2352824" cy="369332"/>
              </a:xfrm>
              <a:prstGeom prst="rect">
                <a:avLst/>
              </a:prstGeom>
              <a:blipFill>
                <a:blip r:embed="rId6"/>
                <a:stretch>
                  <a:fillRect l="-2332" t="-9836" b="-2459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CuadroTexto 237"/>
              <p:cNvSpPr txBox="1"/>
              <p:nvPr/>
            </p:nvSpPr>
            <p:spPr>
              <a:xfrm>
                <a:off x="1157409" y="5469711"/>
                <a:ext cx="3065013" cy="485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Retorno de la inversion </a:t>
                </a:r>
                <a:r>
                  <a:rPr lang="en-US" dirty="0" smtClean="0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1+2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endParaRPr lang="es-ES_tradnl" dirty="0"/>
              </a:p>
            </p:txBody>
          </p:sp>
        </mc:Choice>
        <mc:Fallback>
          <p:sp>
            <p:nvSpPr>
              <p:cNvPr id="238" name="CuadroTexto 2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09" y="5469711"/>
                <a:ext cx="3065013" cy="485454"/>
              </a:xfrm>
              <a:prstGeom prst="rect">
                <a:avLst/>
              </a:prstGeom>
              <a:blipFill>
                <a:blip r:embed="rId7"/>
                <a:stretch>
                  <a:fillRect l="-1789" b="-75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CuadroTexto 238"/>
          <p:cNvSpPr txBox="1"/>
          <p:nvPr/>
        </p:nvSpPr>
        <p:spPr>
          <a:xfrm>
            <a:off x="10088392" y="4716268"/>
            <a:ext cx="47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/>
              <a:t>⑤</a:t>
            </a:r>
            <a:endParaRPr lang="es-ES_tradnl" dirty="0"/>
          </a:p>
        </p:txBody>
      </p:sp>
      <p:sp>
        <p:nvSpPr>
          <p:cNvPr id="240" name="CuadroTexto 239"/>
          <p:cNvSpPr txBox="1"/>
          <p:nvPr/>
        </p:nvSpPr>
        <p:spPr>
          <a:xfrm>
            <a:off x="1157408" y="5983785"/>
            <a:ext cx="19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Flujo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financiero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:  </a:t>
            </a:r>
            <a:r>
              <a:rPr lang="en-US" dirty="0"/>
              <a:t>3</a:t>
            </a:r>
            <a:endParaRPr lang="es-ES_tradnl" dirty="0"/>
          </a:p>
        </p:txBody>
      </p:sp>
      <p:sp>
        <p:nvSpPr>
          <p:cNvPr id="241" name="CuadroTexto 240"/>
          <p:cNvSpPr txBox="1"/>
          <p:nvPr/>
        </p:nvSpPr>
        <p:spPr>
          <a:xfrm>
            <a:off x="3807290" y="1721445"/>
            <a:ext cx="47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/>
              <a:t>⑥</a:t>
            </a:r>
            <a:endParaRPr lang="es-ES_tradnl" dirty="0"/>
          </a:p>
        </p:txBody>
      </p:sp>
      <p:pic>
        <p:nvPicPr>
          <p:cNvPr id="127" name="Imagen 126" descr="Free photo: Water Pump, Industrial, Industry - Free Image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422" y="3362134"/>
            <a:ext cx="545230" cy="363486"/>
          </a:xfrm>
          <a:prstGeom prst="rect">
            <a:avLst/>
          </a:prstGeom>
        </p:spPr>
      </p:pic>
      <p:cxnSp>
        <p:nvCxnSpPr>
          <p:cNvPr id="60" name="Conector angular 59"/>
          <p:cNvCxnSpPr>
            <a:stCxn id="58" idx="2"/>
          </p:cNvCxnSpPr>
          <p:nvPr/>
        </p:nvCxnSpPr>
        <p:spPr>
          <a:xfrm rot="16200000" flipH="1">
            <a:off x="3936060" y="3394072"/>
            <a:ext cx="278600" cy="443708"/>
          </a:xfrm>
          <a:prstGeom prst="bentConnector2">
            <a:avLst/>
          </a:prstGeom>
          <a:ln w="63500">
            <a:tailEnd type="stealth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/>
          <p:cNvCxnSpPr>
            <a:stCxn id="127" idx="3"/>
          </p:cNvCxnSpPr>
          <p:nvPr/>
        </p:nvCxnSpPr>
        <p:spPr>
          <a:xfrm flipV="1">
            <a:off x="4767652" y="1223138"/>
            <a:ext cx="1296162" cy="2320739"/>
          </a:xfrm>
          <a:prstGeom prst="line">
            <a:avLst/>
          </a:prstGeom>
          <a:ln w="50800"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222026" y="150627"/>
            <a:ext cx="5976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/>
              <a:t>v</a:t>
            </a:r>
            <a:r>
              <a:rPr lang="en-US" u="sng" dirty="0" err="1" smtClean="0"/>
              <a:t>isión</a:t>
            </a:r>
            <a:r>
              <a:rPr lang="en-US" u="sng" dirty="0" smtClean="0"/>
              <a:t> </a:t>
            </a:r>
            <a:r>
              <a:rPr lang="en-US" u="sng" dirty="0" err="1" smtClean="0"/>
              <a:t>dinámica</a:t>
            </a:r>
            <a:r>
              <a:rPr lang="en-US" u="sng" dirty="0" smtClean="0"/>
              <a:t>: lo que el </a:t>
            </a:r>
            <a:r>
              <a:rPr lang="en-US" u="sng" dirty="0" err="1" smtClean="0"/>
              <a:t>dinero</a:t>
            </a:r>
            <a:r>
              <a:rPr lang="en-US" u="sng" dirty="0" smtClean="0"/>
              <a:t> </a:t>
            </a:r>
            <a:r>
              <a:rPr lang="en-US" i="1" u="sng" dirty="0" err="1" smtClean="0"/>
              <a:t>está</a:t>
            </a:r>
            <a:r>
              <a:rPr lang="en-US" i="1" u="sng" dirty="0" smtClean="0"/>
              <a:t> </a:t>
            </a:r>
            <a:r>
              <a:rPr lang="en-US" i="1" u="sng" dirty="0" err="1" smtClean="0"/>
              <a:t>haciendo</a:t>
            </a:r>
            <a:r>
              <a:rPr lang="en-US" u="sng" dirty="0" smtClean="0"/>
              <a:t> </a:t>
            </a:r>
            <a:r>
              <a:rPr lang="en-US" u="sng" dirty="0" err="1" smtClean="0"/>
              <a:t>en</a:t>
            </a:r>
            <a:r>
              <a:rPr lang="en-US" u="sng" dirty="0" smtClean="0"/>
              <a:t> la </a:t>
            </a:r>
            <a:r>
              <a:rPr lang="en-US" u="sng" dirty="0" err="1" smtClean="0"/>
              <a:t>empresa</a:t>
            </a:r>
            <a:endParaRPr lang="es-ES_tradnl" u="sng" dirty="0"/>
          </a:p>
        </p:txBody>
      </p:sp>
      <p:sp>
        <p:nvSpPr>
          <p:cNvPr id="62" name="CuadroTexto 61"/>
          <p:cNvSpPr txBox="1"/>
          <p:nvPr/>
        </p:nvSpPr>
        <p:spPr>
          <a:xfrm>
            <a:off x="7808119" y="3296635"/>
            <a:ext cx="122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inventarios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63" name="Conector recto 62"/>
          <p:cNvCxnSpPr/>
          <p:nvPr/>
        </p:nvCxnSpPr>
        <p:spPr>
          <a:xfrm>
            <a:off x="8864696" y="4848284"/>
            <a:ext cx="58286" cy="592159"/>
          </a:xfrm>
          <a:prstGeom prst="line">
            <a:avLst/>
          </a:prstGeom>
          <a:ln w="165100"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3807290" y="6352715"/>
            <a:ext cx="4503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smtClean="0"/>
              <a:t>Nota: las fórmulas de `resultado neto` y `retorno de inversión` están simplificadas, no se contemplan efectos detallados de </a:t>
            </a:r>
            <a:r>
              <a:rPr lang="es-ES" sz="1000" dirty="0" err="1" smtClean="0"/>
              <a:t>periodificación</a:t>
            </a:r>
            <a:r>
              <a:rPr lang="es-ES" sz="1000" dirty="0" smtClean="0"/>
              <a:t> en su tratamiento contable.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22811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Nube 205"/>
          <p:cNvSpPr/>
          <p:nvPr/>
        </p:nvSpPr>
        <p:spPr>
          <a:xfrm>
            <a:off x="7497331" y="591343"/>
            <a:ext cx="2335645" cy="1561821"/>
          </a:xfrm>
          <a:prstGeom prst="cloud">
            <a:avLst/>
          </a:prstGeom>
          <a:noFill/>
          <a:ln w="25400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08" name="Grupo 107"/>
          <p:cNvGrpSpPr/>
          <p:nvPr/>
        </p:nvGrpSpPr>
        <p:grpSpPr>
          <a:xfrm>
            <a:off x="3591355" y="2806008"/>
            <a:ext cx="1680282" cy="670618"/>
            <a:chOff x="3873100" y="2928449"/>
            <a:chExt cx="1680282" cy="670618"/>
          </a:xfrm>
        </p:grpSpPr>
        <p:pic>
          <p:nvPicPr>
            <p:cNvPr id="58" name="Imagen 5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3100" y="2928449"/>
              <a:ext cx="524301" cy="670618"/>
            </a:xfrm>
            <a:prstGeom prst="rect">
              <a:avLst/>
            </a:prstGeom>
          </p:spPr>
        </p:pic>
        <p:sp>
          <p:nvSpPr>
            <p:cNvPr id="73" name="CuadroTexto 72"/>
            <p:cNvSpPr txBox="1"/>
            <p:nvPr/>
          </p:nvSpPr>
          <p:spPr>
            <a:xfrm>
              <a:off x="4393513" y="2964334"/>
              <a:ext cx="1159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resultados</a:t>
              </a:r>
              <a:endParaRPr lang="en-US" dirty="0" smtClean="0"/>
            </a:p>
          </p:txBody>
        </p:sp>
      </p:grpSp>
      <p:grpSp>
        <p:nvGrpSpPr>
          <p:cNvPr id="135" name="Grupo 134"/>
          <p:cNvGrpSpPr/>
          <p:nvPr/>
        </p:nvGrpSpPr>
        <p:grpSpPr>
          <a:xfrm>
            <a:off x="7303115" y="2499114"/>
            <a:ext cx="1988123" cy="1780409"/>
            <a:chOff x="6566729" y="1530398"/>
            <a:chExt cx="1988123" cy="1780409"/>
          </a:xfrm>
        </p:grpSpPr>
        <p:pic>
          <p:nvPicPr>
            <p:cNvPr id="56" name="Imagen 5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6729" y="2101393"/>
              <a:ext cx="1511939" cy="1048603"/>
            </a:xfrm>
            <a:prstGeom prst="rect">
              <a:avLst/>
            </a:prstGeom>
          </p:spPr>
        </p:pic>
        <p:grpSp>
          <p:nvGrpSpPr>
            <p:cNvPr id="92" name="Grupo 91"/>
            <p:cNvGrpSpPr/>
            <p:nvPr/>
          </p:nvGrpSpPr>
          <p:grpSpPr>
            <a:xfrm>
              <a:off x="8402452" y="1530398"/>
              <a:ext cx="152400" cy="1780409"/>
              <a:chOff x="8705146" y="1687186"/>
              <a:chExt cx="152400" cy="1780409"/>
            </a:xfrm>
          </p:grpSpPr>
          <p:cxnSp>
            <p:nvCxnSpPr>
              <p:cNvPr id="77" name="Conector recto 76"/>
              <p:cNvCxnSpPr/>
              <p:nvPr/>
            </p:nvCxnSpPr>
            <p:spPr>
              <a:xfrm>
                <a:off x="8705146" y="1687186"/>
                <a:ext cx="0" cy="1780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/>
              <p:cNvCxnSpPr/>
              <p:nvPr/>
            </p:nvCxnSpPr>
            <p:spPr>
              <a:xfrm>
                <a:off x="8857546" y="1687186"/>
                <a:ext cx="0" cy="178040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Nube 102"/>
          <p:cNvSpPr/>
          <p:nvPr/>
        </p:nvSpPr>
        <p:spPr>
          <a:xfrm>
            <a:off x="10275325" y="5440443"/>
            <a:ext cx="1808804" cy="1211164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mercado</a:t>
            </a:r>
            <a:endParaRPr lang="es-ES_tradnl" dirty="0"/>
          </a:p>
        </p:txBody>
      </p:sp>
      <p:sp>
        <p:nvSpPr>
          <p:cNvPr id="61" name="CuadroTexto 60"/>
          <p:cNvSpPr txBox="1"/>
          <p:nvPr/>
        </p:nvSpPr>
        <p:spPr>
          <a:xfrm>
            <a:off x="222026" y="150627"/>
            <a:ext cx="5160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/>
              <a:t>v</a:t>
            </a:r>
            <a:r>
              <a:rPr lang="en-US" u="sng" dirty="0" err="1" smtClean="0"/>
              <a:t>isión</a:t>
            </a:r>
            <a:r>
              <a:rPr lang="en-US" u="sng" dirty="0" smtClean="0"/>
              <a:t> </a:t>
            </a:r>
            <a:r>
              <a:rPr lang="en-US" u="sng" dirty="0" err="1" smtClean="0"/>
              <a:t>estática</a:t>
            </a:r>
            <a:r>
              <a:rPr lang="en-US" u="sng" dirty="0" smtClean="0"/>
              <a:t>: balance de lo que </a:t>
            </a:r>
            <a:r>
              <a:rPr lang="en-US" i="1" u="sng" dirty="0" smtClean="0"/>
              <a:t>ha </a:t>
            </a:r>
            <a:r>
              <a:rPr lang="en-US" i="1" u="sng" dirty="0" err="1" smtClean="0"/>
              <a:t>hecho</a:t>
            </a:r>
            <a:r>
              <a:rPr lang="en-US" u="sng" dirty="0" smtClean="0"/>
              <a:t> el </a:t>
            </a:r>
            <a:r>
              <a:rPr lang="en-US" u="sng" dirty="0" err="1" smtClean="0"/>
              <a:t>dinero</a:t>
            </a:r>
            <a:r>
              <a:rPr lang="en-US" u="sng" dirty="0" smtClean="0"/>
              <a:t> </a:t>
            </a:r>
            <a:br>
              <a:rPr lang="en-US" u="sng" dirty="0" smtClean="0"/>
            </a:br>
            <a:r>
              <a:rPr lang="en-US" u="sng" dirty="0" smtClean="0"/>
              <a:t>                                        que ha </a:t>
            </a:r>
            <a:r>
              <a:rPr lang="en-US" u="sng" dirty="0" err="1" smtClean="0"/>
              <a:t>pasado</a:t>
            </a:r>
            <a:r>
              <a:rPr lang="en-US" u="sng" dirty="0" smtClean="0"/>
              <a:t> </a:t>
            </a:r>
            <a:r>
              <a:rPr lang="en-US" u="sng" dirty="0" err="1" smtClean="0"/>
              <a:t>por</a:t>
            </a:r>
            <a:r>
              <a:rPr lang="en-US" u="sng" dirty="0" smtClean="0"/>
              <a:t> la </a:t>
            </a:r>
            <a:r>
              <a:rPr lang="en-US" u="sng" dirty="0" err="1" smtClean="0"/>
              <a:t>empresa</a:t>
            </a:r>
            <a:endParaRPr lang="es-ES_tradnl" u="sng" dirty="0"/>
          </a:p>
        </p:txBody>
      </p:sp>
      <p:sp>
        <p:nvSpPr>
          <p:cNvPr id="63" name="CuadroTexto 62"/>
          <p:cNvSpPr txBox="1"/>
          <p:nvPr/>
        </p:nvSpPr>
        <p:spPr>
          <a:xfrm>
            <a:off x="918976" y="3862897"/>
            <a:ext cx="1767984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capitales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propios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669491" y="4417229"/>
            <a:ext cx="2449197" cy="1200329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capitales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ajenos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</a:t>
            </a:r>
          </a:p>
          <a:p>
            <a:pPr algn="ctr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pendientes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devolver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corto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largo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3455469" y="2242278"/>
            <a:ext cx="2126480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érdidas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y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ganancias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3763836" y="3862897"/>
            <a:ext cx="965842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reservas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5960279" y="3862897"/>
            <a:ext cx="1279004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ctivos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fijos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7597954" y="4391631"/>
            <a:ext cx="1693284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aterias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primas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7271711" y="4835559"/>
            <a:ext cx="2019527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ateriales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en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curso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6996123" y="5248226"/>
            <a:ext cx="2295115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ateriales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terminados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9" name="CuadroTexto 78"/>
          <p:cNvSpPr txBox="1"/>
          <p:nvPr/>
        </p:nvSpPr>
        <p:spPr>
          <a:xfrm>
            <a:off x="10048729" y="1484722"/>
            <a:ext cx="1776577" cy="646331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provisiones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para </a:t>
            </a:r>
          </a:p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osibles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impagos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9733130" y="2242277"/>
            <a:ext cx="2092176" cy="646331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endiente</a:t>
            </a:r>
            <a:r>
              <a:rPr lang="es-ES_tradnl" dirty="0" smtClean="0">
                <a:solidFill>
                  <a:schemeClr val="accent6">
                    <a:lumMod val="75000"/>
                  </a:schemeClr>
                </a:solidFill>
              </a:rPr>
              <a:t> de cobrar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clientes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1" name="CuadroTexto 80"/>
          <p:cNvSpPr txBox="1"/>
          <p:nvPr/>
        </p:nvSpPr>
        <p:spPr>
          <a:xfrm>
            <a:off x="7645839" y="1438556"/>
            <a:ext cx="1860959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uentas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bancarias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7623358" y="862891"/>
            <a:ext cx="2317879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nversiones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financieras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6832008" y="2242277"/>
            <a:ext cx="2523063" cy="646331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endiente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pagar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proveedores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sz="1000" dirty="0" smtClean="0">
                <a:solidFill>
                  <a:schemeClr val="accent6">
                    <a:lumMod val="75000"/>
                  </a:schemeClr>
                </a:solidFill>
              </a:rPr>
              <a:t>Hacienda, SS, </a:t>
            </a:r>
            <a:r>
              <a:rPr lang="en-US" sz="1000" dirty="0" err="1" smtClean="0">
                <a:solidFill>
                  <a:schemeClr val="accent6">
                    <a:lumMod val="75000"/>
                  </a:schemeClr>
                </a:solidFill>
              </a:rPr>
              <a:t>etc</a:t>
            </a:r>
            <a:endParaRPr lang="es-ES_tradnl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0" name="Grupo 29"/>
          <p:cNvGrpSpPr/>
          <p:nvPr/>
        </p:nvGrpSpPr>
        <p:grpSpPr>
          <a:xfrm>
            <a:off x="577794" y="2234033"/>
            <a:ext cx="1959785" cy="1350901"/>
            <a:chOff x="1074784" y="2248165"/>
            <a:chExt cx="1959785" cy="1350901"/>
          </a:xfrm>
        </p:grpSpPr>
        <p:pic>
          <p:nvPicPr>
            <p:cNvPr id="31" name="Imagen 3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929" y="2902741"/>
              <a:ext cx="524301" cy="670618"/>
            </a:xfrm>
            <a:prstGeom prst="rect">
              <a:avLst/>
            </a:prstGeom>
          </p:spPr>
        </p:pic>
        <p:sp>
          <p:nvSpPr>
            <p:cNvPr id="32" name="CuadroTexto 31"/>
            <p:cNvSpPr txBox="1"/>
            <p:nvPr/>
          </p:nvSpPr>
          <p:spPr>
            <a:xfrm>
              <a:off x="1074784" y="2952735"/>
              <a:ext cx="12251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 smtClean="0"/>
                <a:t>capitales</a:t>
              </a: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err="1" smtClean="0"/>
                <a:t>externos</a:t>
              </a:r>
              <a:endParaRPr lang="es-ES_tradnl" dirty="0"/>
            </a:p>
          </p:txBody>
        </p:sp>
        <p:sp>
          <p:nvSpPr>
            <p:cNvPr id="33" name="Nube 32"/>
            <p:cNvSpPr/>
            <p:nvPr/>
          </p:nvSpPr>
          <p:spPr>
            <a:xfrm>
              <a:off x="1499536" y="2248165"/>
              <a:ext cx="1535033" cy="400900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/>
                <a:t>Inversores</a:t>
              </a:r>
              <a:r>
                <a:rPr lang="en-US" sz="1200" dirty="0" smtClean="0"/>
                <a:t> y </a:t>
              </a:r>
              <a:r>
                <a:rPr lang="en-US" sz="1200" dirty="0" err="1" smtClean="0"/>
                <a:t>prestamistas</a:t>
              </a:r>
              <a:endParaRPr lang="es-ES_tradnl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862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3200" dirty="0" smtClean="0"/>
              <a:t>Diferencia </a:t>
            </a:r>
            <a:r>
              <a:rPr lang="es-ES" sz="3200" dirty="0"/>
              <a:t>entre FINANZAS y CONTABILIDAD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72194" y="1690688"/>
            <a:ext cx="8752113" cy="2441575"/>
          </a:xfrm>
        </p:spPr>
        <p:txBody>
          <a:bodyPr>
            <a:normAutofit fontScale="25000" lnSpcReduction="20000"/>
          </a:bodyPr>
          <a:lstStyle/>
          <a:p>
            <a:pPr marL="180000" indent="-180000">
              <a:lnSpc>
                <a:spcPct val="170000"/>
              </a:lnSpc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Finanzas</a:t>
            </a:r>
            <a:r>
              <a:rPr lang="es-ES" sz="7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ES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Realización </a:t>
            </a:r>
            <a:r>
              <a:rPr lang="es-E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los movimientos de dinero, según este se mueve en la realidad.</a:t>
            </a:r>
          </a:p>
          <a:p>
            <a:endParaRPr lang="es-E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000" indent="-180000">
              <a:lnSpc>
                <a:spcPct val="170000"/>
              </a:lnSpc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Contabilidad: </a:t>
            </a:r>
            <a:r>
              <a:rPr lang="es-ES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ES" sz="4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Registro </a:t>
            </a:r>
            <a:r>
              <a:rPr lang="es-E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de los movimientos de dinero, siguiendo reglas preestablecidas, iguales para todos, </a:t>
            </a:r>
            <a:r>
              <a:rPr lang="es-E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s-E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5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es-E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calcular, a posteriori, repartos legales tales como los impuestos, los dividendos, la valoración de la empresa,...</a:t>
            </a:r>
          </a:p>
          <a:p>
            <a:endParaRPr lang="es-ES" dirty="0"/>
          </a:p>
        </p:txBody>
      </p:sp>
      <p:cxnSp>
        <p:nvCxnSpPr>
          <p:cNvPr id="5" name="Conector recto 4"/>
          <p:cNvCxnSpPr/>
          <p:nvPr/>
        </p:nvCxnSpPr>
        <p:spPr>
          <a:xfrm flipV="1">
            <a:off x="2124891" y="1349829"/>
            <a:ext cx="8046720" cy="43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838200" y="4267200"/>
            <a:ext cx="10515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ejemplo:</a:t>
            </a:r>
          </a:p>
          <a:p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Desde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punto de vista financiero, una inversión se paga en su totalidad en el momento en que se realiza.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Desde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punto de vista contable, esa inversión se "guarda" en una cuenta (sin afectar a beneficios) y se va amortizando progresivamente (reduciendo beneficios) a lo largo de varios años.</a:t>
            </a:r>
          </a:p>
          <a:p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Desde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punto de vista financiero, un resultado de pérdidas se produce en el día, mes o año en que </a:t>
            </a:r>
            <a:r>
              <a:rPr lang="es-E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s-E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(ingresos - </a:t>
            </a:r>
            <a:r>
              <a:rPr lang="es-E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gastos|inversiones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Desde </a:t>
            </a:r>
            <a:r>
              <a:rPr lang="es-E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punto de vista contable, esas pérdidas se "guardan" en una cuenta desde la que se pueden compensar ganancias en los años venideros para pagar menos impuestos en esos otros años.</a:t>
            </a:r>
          </a:p>
          <a:p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04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355</Words>
  <Application>Microsoft Office PowerPoint</Application>
  <PresentationFormat>Panorámica</PresentationFormat>
  <Paragraphs>57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Symbol</vt:lpstr>
      <vt:lpstr>Times New Roman</vt:lpstr>
      <vt:lpstr>Tema de Office</vt:lpstr>
      <vt:lpstr>Presentación de PowerPoint</vt:lpstr>
      <vt:lpstr>Presentación de PowerPoint</vt:lpstr>
      <vt:lpstr>Diferencia entre FINANZAS y CONTABILIDAD</vt:lpstr>
    </vt:vector>
  </TitlesOfParts>
  <Company>Ulma C y E, S. Coop.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Murua</dc:creator>
  <cp:lastModifiedBy>Juan Murua</cp:lastModifiedBy>
  <cp:revision>29</cp:revision>
  <cp:lastPrinted>2019-02-20T15:41:39Z</cp:lastPrinted>
  <dcterms:created xsi:type="dcterms:W3CDTF">2019-02-19T14:43:19Z</dcterms:created>
  <dcterms:modified xsi:type="dcterms:W3CDTF">2026-07-16T08:20:08Z</dcterms:modified>
</cp:coreProperties>
</file>